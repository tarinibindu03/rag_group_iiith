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peak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6DACC"/>
          </a:solidFill>
        </a:fill>
      </a:tcStyle>
    </a:wholeTbl>
    <a:band2H>
      <a:tcTxStyle/>
      <a:tcStyle>
        <a:tcBdr/>
        <a:fill>
          <a:solidFill>
            <a:srgbClr val="FBED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E2CE"/>
          </a:solidFill>
        </a:fill>
      </a:tcStyle>
    </a:wholeTbl>
    <a:band2H>
      <a:tcTxStyle/>
      <a:tcStyle>
        <a:tcBdr/>
        <a:fill>
          <a:solidFill>
            <a:srgbClr val="ED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E5D6"/>
          </a:solidFill>
        </a:fill>
      </a:tcStyle>
    </a:wholeTbl>
    <a:band2H>
      <a:tcTxStyle/>
      <a:tcStyle>
        <a:tcBdr/>
        <a:fill>
          <a:solidFill>
            <a:srgbClr val="E7F2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90"/>
  </p:normalViewPr>
  <p:slideViewPr>
    <p:cSldViewPr snapToGrid="0">
      <p:cViewPr varScale="1">
        <p:scale>
          <a:sx n="111" d="100"/>
          <a:sy n="111" d="100"/>
        </p:scale>
        <p:origin x="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1" name="Shape 12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Speak Pro"/>
      </a:defRPr>
    </a:lvl1pPr>
    <a:lvl2pPr indent="228600" latinLnBrk="0">
      <a:defRPr sz="1200">
        <a:latin typeface="+mn-lt"/>
        <a:ea typeface="+mn-ea"/>
        <a:cs typeface="+mn-cs"/>
        <a:sym typeface="Speak Pro"/>
      </a:defRPr>
    </a:lvl2pPr>
    <a:lvl3pPr indent="457200" latinLnBrk="0">
      <a:defRPr sz="1200">
        <a:latin typeface="+mn-lt"/>
        <a:ea typeface="+mn-ea"/>
        <a:cs typeface="+mn-cs"/>
        <a:sym typeface="Speak Pro"/>
      </a:defRPr>
    </a:lvl3pPr>
    <a:lvl4pPr indent="685800" latinLnBrk="0">
      <a:defRPr sz="1200">
        <a:latin typeface="+mn-lt"/>
        <a:ea typeface="+mn-ea"/>
        <a:cs typeface="+mn-cs"/>
        <a:sym typeface="Speak Pro"/>
      </a:defRPr>
    </a:lvl4pPr>
    <a:lvl5pPr indent="914400" latinLnBrk="0">
      <a:defRPr sz="1200">
        <a:latin typeface="+mn-lt"/>
        <a:ea typeface="+mn-ea"/>
        <a:cs typeface="+mn-cs"/>
        <a:sym typeface="Speak Pro"/>
      </a:defRPr>
    </a:lvl5pPr>
    <a:lvl6pPr indent="1143000" latinLnBrk="0">
      <a:defRPr sz="1200">
        <a:latin typeface="+mn-lt"/>
        <a:ea typeface="+mn-ea"/>
        <a:cs typeface="+mn-cs"/>
        <a:sym typeface="Speak Pro"/>
      </a:defRPr>
    </a:lvl6pPr>
    <a:lvl7pPr indent="1371600" latinLnBrk="0">
      <a:defRPr sz="1200">
        <a:latin typeface="+mn-lt"/>
        <a:ea typeface="+mn-ea"/>
        <a:cs typeface="+mn-cs"/>
        <a:sym typeface="Speak Pro"/>
      </a:defRPr>
    </a:lvl7pPr>
    <a:lvl8pPr indent="1600200" latinLnBrk="0">
      <a:defRPr sz="1200">
        <a:latin typeface="+mn-lt"/>
        <a:ea typeface="+mn-ea"/>
        <a:cs typeface="+mn-cs"/>
        <a:sym typeface="Speak Pro"/>
      </a:defRPr>
    </a:lvl8pPr>
    <a:lvl9pPr indent="1828800" latinLnBrk="0">
      <a:defRPr sz="1200">
        <a:latin typeface="+mn-lt"/>
        <a:ea typeface="+mn-ea"/>
        <a:cs typeface="+mn-cs"/>
        <a:sym typeface="Speak Pro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1097280" y="758951"/>
            <a:ext cx="10058401" cy="3566161"/>
          </a:xfrm>
          <a:prstGeom prst="rect">
            <a:avLst/>
          </a:prstGeom>
        </p:spPr>
        <p:txBody>
          <a:bodyPr/>
          <a:lstStyle>
            <a:lvl1pPr algn="l">
              <a:defRPr sz="8000" spc="-50">
                <a:solidFill>
                  <a:srgbClr val="262626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0050" y="4645152"/>
            <a:ext cx="10058401" cy="11430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1pPr>
            <a:lvl2pPr marL="0" indent="4572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2pPr>
            <a:lvl3pPr marL="0" indent="9144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3pPr>
            <a:lvl4pPr marL="0" indent="13716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4pPr>
            <a:lvl5pPr marL="0" indent="18288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traight Connector 8"/>
          <p:cNvSpPr/>
          <p:nvPr/>
        </p:nvSpPr>
        <p:spPr>
          <a:xfrm>
            <a:off x="1207657" y="4474740"/>
            <a:ext cx="9875522" cy="1"/>
          </a:xfrm>
          <a:prstGeom prst="line">
            <a:avLst/>
          </a:prstGeom>
          <a:ln w="12700">
            <a:solidFill>
              <a:srgbClr val="40404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" name="Title Text"/>
          <p:cNvSpPr txBox="1">
            <a:spLocks noGrp="1"/>
          </p:cNvSpPr>
          <p:nvPr>
            <p:ph type="title"/>
          </p:nvPr>
        </p:nvSpPr>
        <p:spPr>
          <a:xfrm>
            <a:off x="1097280" y="758951"/>
            <a:ext cx="10058401" cy="3566161"/>
          </a:xfrm>
          <a:prstGeom prst="rect">
            <a:avLst/>
          </a:prstGeom>
        </p:spPr>
        <p:txBody>
          <a:bodyPr/>
          <a:lstStyle>
            <a:lvl1pPr algn="l">
              <a:defRPr sz="8000" spc="-50">
                <a:solidFill>
                  <a:srgbClr val="262626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0050" y="4645152"/>
            <a:ext cx="10058401" cy="11430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1pPr>
            <a:lvl2pPr marL="0" indent="4572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2pPr>
            <a:lvl3pPr marL="0" indent="9144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3pPr>
            <a:lvl4pPr marL="0" indent="13716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4pPr>
            <a:lvl5pPr marL="0" indent="18288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traight Connector 8"/>
          <p:cNvSpPr/>
          <p:nvPr/>
        </p:nvSpPr>
        <p:spPr>
          <a:xfrm>
            <a:off x="1207657" y="4474740"/>
            <a:ext cx="9875522" cy="1"/>
          </a:xfrm>
          <a:prstGeom prst="line">
            <a:avLst/>
          </a:prstGeom>
          <a:ln w="12700">
            <a:solidFill>
              <a:srgbClr val="40404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97280" y="2108200"/>
            <a:ext cx="10058401" cy="376089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1097280" y="2108200"/>
            <a:ext cx="10058401" cy="3760892"/>
          </a:xfrm>
          <a:prstGeom prst="rect">
            <a:avLst/>
          </a:prstGeom>
        </p:spPr>
        <p:txBody>
          <a:bodyPr/>
          <a:lstStyle>
            <a:lvl1pPr>
              <a:buClr>
                <a:srgbClr val="579858"/>
              </a:buClr>
            </a:lvl1pPr>
            <a:lvl2pPr>
              <a:buClr>
                <a:srgbClr val="579858"/>
              </a:buClr>
            </a:lvl2pPr>
            <a:lvl3pPr>
              <a:buClr>
                <a:srgbClr val="579858"/>
              </a:buClr>
            </a:lvl3pPr>
            <a:lvl4pPr>
              <a:buClr>
                <a:srgbClr val="579858"/>
              </a:buClr>
            </a:lvl4pPr>
            <a:lvl5pPr>
              <a:buClr>
                <a:srgbClr val="579858"/>
              </a:buCl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xfrm>
            <a:off x="1097280" y="758951"/>
            <a:ext cx="10058401" cy="3566161"/>
          </a:xfrm>
          <a:prstGeom prst="rect">
            <a:avLst/>
          </a:prstGeom>
        </p:spPr>
        <p:txBody>
          <a:bodyPr/>
          <a:lstStyle>
            <a:lvl1pPr algn="l">
              <a:defRPr sz="8000" spc="-50">
                <a:solidFill>
                  <a:srgbClr val="262626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97280" y="4663440"/>
            <a:ext cx="10058401" cy="11430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1pPr>
            <a:lvl2pPr marL="0" indent="4572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2pPr>
            <a:lvl3pPr marL="0" indent="9144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3pPr>
            <a:lvl4pPr marL="0" indent="13716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4pPr>
            <a:lvl5pPr marL="0" indent="1828800">
              <a:buClrTx/>
              <a:buSzTx/>
              <a:buFontTx/>
              <a:buNone/>
              <a:defRPr sz="2400" cap="all" spc="2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traight Connector 8"/>
          <p:cNvSpPr/>
          <p:nvPr/>
        </p:nvSpPr>
        <p:spPr>
          <a:xfrm>
            <a:off x="1207657" y="4485132"/>
            <a:ext cx="9875522" cy="1"/>
          </a:xfrm>
          <a:prstGeom prst="line">
            <a:avLst/>
          </a:prstGeom>
          <a:ln w="12700">
            <a:solidFill>
              <a:srgbClr val="40404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97280" y="2120900"/>
            <a:ext cx="4639737" cy="374819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97280" y="2057400"/>
            <a:ext cx="4639737" cy="736282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ClrTx/>
              <a:buSzTx/>
              <a:buFontTx/>
              <a:buNone/>
              <a:defRPr cap="all">
                <a:solidFill>
                  <a:srgbClr val="000000"/>
                </a:solidFill>
              </a:defRPr>
            </a:lvl1pPr>
            <a:lvl2pPr marL="0" indent="457200">
              <a:buClrTx/>
              <a:buSzTx/>
              <a:buFontTx/>
              <a:buNone/>
              <a:defRPr cap="all">
                <a:solidFill>
                  <a:srgbClr val="000000"/>
                </a:solidFill>
              </a:defRPr>
            </a:lvl2pPr>
            <a:lvl3pPr marL="0" indent="914400">
              <a:buClrTx/>
              <a:buSzTx/>
              <a:buFontTx/>
              <a:buNone/>
              <a:defRPr cap="all">
                <a:solidFill>
                  <a:srgbClr val="000000"/>
                </a:solidFill>
              </a:defRPr>
            </a:lvl3pPr>
            <a:lvl4pPr marL="0" indent="1371600">
              <a:buClrTx/>
              <a:buSzTx/>
              <a:buFontTx/>
              <a:buNone/>
              <a:defRPr cap="all">
                <a:solidFill>
                  <a:srgbClr val="000000"/>
                </a:solidFill>
              </a:defRPr>
            </a:lvl4pPr>
            <a:lvl5pPr marL="0" indent="1828800">
              <a:buClrTx/>
              <a:buSzTx/>
              <a:buFontTx/>
              <a:buNone/>
              <a:defRPr cap="all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515944" y="2057400"/>
            <a:ext cx="4639737" cy="736282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 marL="0" indent="0">
              <a:buClrTx/>
              <a:buSzTx/>
              <a:buFontTx/>
              <a:buNone/>
              <a:defRPr cap="all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7"/>
          <p:cNvSpPr/>
          <p:nvPr/>
        </p:nvSpPr>
        <p:spPr>
          <a:xfrm>
            <a:off x="15" y="0"/>
            <a:ext cx="4654298" cy="6858000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Title Text"/>
          <p:cNvSpPr txBox="1">
            <a:spLocks noGrp="1"/>
          </p:cNvSpPr>
          <p:nvPr>
            <p:ph type="title"/>
          </p:nvPr>
        </p:nvSpPr>
        <p:spPr>
          <a:xfrm>
            <a:off x="643466" y="786383"/>
            <a:ext cx="3517568" cy="2093976"/>
          </a:xfrm>
          <a:prstGeom prst="rect">
            <a:avLst/>
          </a:prstGeom>
        </p:spPr>
        <p:txBody>
          <a:bodyPr/>
          <a:lstStyle>
            <a:lvl1pPr algn="l">
              <a:defRPr sz="3600" spc="-5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458983" y="812798"/>
            <a:ext cx="5928345" cy="5294759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43464" y="3043049"/>
            <a:ext cx="3517569" cy="3064506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0" indent="0"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4354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Picture Placeholder 2"/>
          <p:cNvSpPr>
            <a:spLocks noGrp="1"/>
          </p:cNvSpPr>
          <p:nvPr>
            <p:ph type="pic" idx="21"/>
          </p:nvPr>
        </p:nvSpPr>
        <p:spPr>
          <a:xfrm>
            <a:off x="14" y="0"/>
            <a:ext cx="12191987" cy="45783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1097278" y="4799362"/>
            <a:ext cx="10113646" cy="74368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3600" spc="-5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97278" y="5715000"/>
            <a:ext cx="10113266" cy="60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0" indent="457200">
              <a:spcBef>
                <a:spcPts val="600"/>
              </a:spcBef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lvl2pPr>
            <a:lvl3pPr marL="0" indent="914400">
              <a:spcBef>
                <a:spcPts val="600"/>
              </a:spcBef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lvl3pPr>
            <a:lvl4pPr marL="0" indent="1371600">
              <a:spcBef>
                <a:spcPts val="600"/>
              </a:spcBef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lvl4pPr>
            <a:lvl5pPr marL="0" indent="1828800">
              <a:spcBef>
                <a:spcPts val="600"/>
              </a:spcBef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Straight Connector 9"/>
          <p:cNvSpPr/>
          <p:nvPr/>
        </p:nvSpPr>
        <p:spPr>
          <a:xfrm>
            <a:off x="1193532" y="1897379"/>
            <a:ext cx="9966960" cy="1"/>
          </a:xfrm>
          <a:prstGeom prst="line">
            <a:avLst/>
          </a:prstGeom>
          <a:ln w="12700">
            <a:solidFill>
              <a:srgbClr val="40404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1" cy="1450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93581" y="6513830"/>
            <a:ext cx="231278" cy="2311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600" b="0" i="0" u="none" strike="noStrike" cap="none" spc="-100" baseline="0">
          <a:solidFill>
            <a:srgbClr val="404040"/>
          </a:solidFill>
          <a:uFillTx/>
          <a:latin typeface="Georgia Pro Cond Light"/>
          <a:ea typeface="Georgia Pro Cond Light"/>
          <a:cs typeface="Georgia Pro Cond Light"/>
          <a:sym typeface="Georgia Pro Cond Light"/>
        </a:defRPr>
      </a:lvl9pPr>
    </p:titleStyle>
    <p:bodyStyle>
      <a:lvl1pPr marL="91439" marR="0" indent="-91439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 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1pPr>
      <a:lvl2pPr marL="404368" marR="0" indent="-2032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2pPr>
      <a:lvl3pPr marL="645305" marR="0" indent="-261257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3pPr>
      <a:lvl4pPr marL="828185" marR="0" indent="-261257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4pPr>
      <a:lvl5pPr marL="1011065" marR="0" indent="-261257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5pPr>
      <a:lvl6pPr marL="1197971" marR="0" indent="-326571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6pPr>
      <a:lvl7pPr marL="1397971" marR="0" indent="-326571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7pPr>
      <a:lvl8pPr marL="1597971" marR="0" indent="-326571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8pPr>
      <a:lvl9pPr marL="1797971" marR="0" indent="-326571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Calibri"/>
        <a:buChar char="◦"/>
        <a:tabLst/>
        <a:defRPr sz="20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Speak Pro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peak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23"/>
          <p:cNvSpPr/>
          <p:nvPr/>
        </p:nvSpPr>
        <p:spPr>
          <a:xfrm>
            <a:off x="-1" y="0"/>
            <a:ext cx="12192003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4" name="Subtitle 2"/>
          <p:cNvSpPr txBox="1">
            <a:spLocks noGrp="1"/>
          </p:cNvSpPr>
          <p:nvPr>
            <p:ph type="body" sz="quarter" idx="1"/>
          </p:nvPr>
        </p:nvSpPr>
        <p:spPr>
          <a:xfrm>
            <a:off x="6781287" y="4397005"/>
            <a:ext cx="4829102" cy="2122161"/>
          </a:xfrm>
          <a:prstGeom prst="rect">
            <a:avLst/>
          </a:prstGeom>
        </p:spPr>
        <p:txBody>
          <a:bodyPr/>
          <a:lstStyle/>
          <a:p>
            <a:pPr algn="ctr">
              <a:defRPr sz="2000" b="1" spc="250"/>
            </a:pPr>
            <a:r>
              <a:t>Team – 8</a:t>
            </a:r>
          </a:p>
          <a:p>
            <a:pPr algn="ctr">
              <a:defRPr sz="1200" spc="171"/>
            </a:pPr>
            <a:r>
              <a:t>Kesireddy PRADEEp</a:t>
            </a:r>
          </a:p>
          <a:p>
            <a:pPr algn="ctr">
              <a:defRPr sz="1200" spc="171"/>
            </a:pPr>
            <a:r>
              <a:t>HIMA BINDU TARINI </a:t>
            </a:r>
          </a:p>
          <a:p>
            <a:pPr algn="ctr">
              <a:defRPr sz="1200" spc="171"/>
            </a:pPr>
            <a:r>
              <a:t>BhaGYALAKSHMI BIKKI</a:t>
            </a:r>
          </a:p>
          <a:p>
            <a:pPr algn="ctr">
              <a:defRPr sz="1200" spc="171"/>
            </a:pPr>
            <a:r>
              <a:t>SARAT VENKATA </a:t>
            </a:r>
          </a:p>
        </p:txBody>
      </p:sp>
      <p:sp>
        <p:nvSpPr>
          <p:cNvPr id="125" name="Straight Connector 25"/>
          <p:cNvSpPr/>
          <p:nvPr/>
        </p:nvSpPr>
        <p:spPr>
          <a:xfrm>
            <a:off x="6805052" y="4294754"/>
            <a:ext cx="4389121" cy="1"/>
          </a:xfrm>
          <a:prstGeom prst="line">
            <a:avLst/>
          </a:prstGeom>
          <a:ln w="12700">
            <a:solidFill>
              <a:srgbClr val="40404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6" name="Image Gallery" descr="Image Gallery"/>
          <p:cNvPicPr>
            <a:picLocks noChangeAspect="1"/>
          </p:cNvPicPr>
          <p:nvPr/>
        </p:nvPicPr>
        <p:blipFill>
          <a:blip r:embed="rId2"/>
          <a:srcRect l="1708" r="1708"/>
          <a:stretch>
            <a:fillRect/>
          </a:stretch>
        </p:blipFill>
        <p:spPr>
          <a:xfrm>
            <a:off x="402610" y="1717321"/>
            <a:ext cx="6105269" cy="3555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AD_4nXdZbVSWiuPZouBy9Q2tnGjxENJYYNZDurhIQuXhUkYjcLu4iPrR1GFji4XZfgkUaCmfFhq-aixMu6zCG5_r7E7RAti84DcxAM8tEqWL3-LS1Pr_LKqg3SG6o3E-YS0ngLpkEBzq2EdgHv27xnKYODM.png" descr="AD_4nXdZbVSWiuPZouBy9Q2tnGjxENJYYNZDurhIQuXhUkYjcLu4iPrR1GFji4XZfgkUaCmfFhq-aixMu6zCG5_r7E7RAti84DcxAM8tEqWL3-LS1Pr_LKqg3SG6o3E-YS0ngLpkEBzq2EdgHv27xnKYO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599" y="1069136"/>
            <a:ext cx="4280027" cy="25073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742" y="999952"/>
            <a:ext cx="8148578" cy="5190273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itle 1"/>
          <p:cNvSpPr txBox="1">
            <a:spLocks noGrp="1"/>
          </p:cNvSpPr>
          <p:nvPr>
            <p:ph type="title" idx="4294967295"/>
          </p:nvPr>
        </p:nvSpPr>
        <p:spPr>
          <a:xfrm>
            <a:off x="863182" y="-453780"/>
            <a:ext cx="10972801" cy="1417638"/>
          </a:xfrm>
          <a:prstGeom prst="rect">
            <a:avLst/>
          </a:prstGeom>
        </p:spPr>
        <p:txBody>
          <a:bodyPr/>
          <a:lstStyle/>
          <a:p>
            <a:r>
              <a:t>RAG Workflow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2"/>
          <p:cNvSpPr txBox="1"/>
          <p:nvPr/>
        </p:nvSpPr>
        <p:spPr>
          <a:xfrm>
            <a:off x="260147" y="1320401"/>
            <a:ext cx="11938636" cy="482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lnSpc>
                <a:spcPct val="130000"/>
              </a:lnSpc>
              <a:spcBef>
                <a:spcPts val="1200"/>
              </a:spcBef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Retrieval-Augmented Generation (RAG) pipeline consists of two main phases:</a:t>
            </a:r>
          </a:p>
          <a:p>
            <a:pPr marL="457200" indent="-317500" defTabSz="457200">
              <a:lnSpc>
                <a:spcPct val="130000"/>
              </a:lnSpc>
              <a:spcBef>
                <a:spcPts val="1200"/>
              </a:spcBef>
              <a:buSzPct val="100000"/>
              <a:buFont typeface="Times Roman"/>
              <a:buAutoNum type="arabicPeriod"/>
              <a:defRPr sz="2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Indexing</a:t>
            </a:r>
            <a:r>
              <a:rPr b="0"/>
              <a:t>:</a:t>
            </a:r>
          </a:p>
          <a:p>
            <a:pPr marL="914400" lvl="1" indent="-317500" defTabSz="457200">
              <a:lnSpc>
                <a:spcPct val="140000"/>
              </a:lnSpc>
              <a:buSzPct val="100000"/>
              <a:buFont typeface="Times Roman"/>
              <a:buChar char="◦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Loading</a:t>
            </a:r>
            <a:r>
              <a:t>: Import documents.</a:t>
            </a:r>
          </a:p>
          <a:p>
            <a:pPr marL="914400" lvl="1" indent="-317500" defTabSz="457200">
              <a:lnSpc>
                <a:spcPct val="140000"/>
              </a:lnSpc>
              <a:buSzPct val="100000"/>
              <a:buFont typeface="Times Roman"/>
              <a:buChar char="◦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Splitting</a:t>
            </a:r>
            <a:r>
              <a:t>: Break large documents into smaller chunks (e.g., 500 characters).</a:t>
            </a:r>
          </a:p>
          <a:p>
            <a:pPr marL="914400" lvl="1" indent="-317500" defTabSz="457200">
              <a:lnSpc>
                <a:spcPct val="140000"/>
              </a:lnSpc>
              <a:buSzPct val="100000"/>
              <a:buFont typeface="Times Roman"/>
              <a:buChar char="◦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Embedding</a:t>
            </a:r>
            <a:r>
              <a:t>: Convert data into vector representations using an embedding model.</a:t>
            </a:r>
          </a:p>
          <a:p>
            <a:pPr marL="914400" lvl="1" indent="-317500" defTabSz="457200">
              <a:lnSpc>
                <a:spcPct val="140000"/>
              </a:lnSpc>
              <a:buSzPct val="100000"/>
              <a:buFont typeface="Times Roman"/>
              <a:buChar char="◦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Storing</a:t>
            </a:r>
            <a:r>
              <a:t>: Save vector embeddings in a vector database for efficient searching.</a:t>
            </a:r>
          </a:p>
          <a:p>
            <a:pPr marL="457200" indent="-317500" defTabSz="457200">
              <a:lnSpc>
                <a:spcPct val="140000"/>
              </a:lnSpc>
              <a:spcBef>
                <a:spcPts val="1200"/>
              </a:spcBef>
              <a:buSzPct val="100000"/>
              <a:buFont typeface="Times Roman"/>
              <a:buAutoNum type="arabicPeriod" startAt="2"/>
              <a:defRPr sz="2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Retrieval &amp; Generation</a:t>
            </a:r>
            <a:r>
              <a:rPr b="0"/>
              <a:t>:</a:t>
            </a:r>
          </a:p>
          <a:p>
            <a:pPr marL="914400" lvl="1" indent="-317500" defTabSz="457200">
              <a:lnSpc>
                <a:spcPct val="130000"/>
              </a:lnSpc>
              <a:buSzPct val="100000"/>
              <a:buFont typeface="Times Roman"/>
              <a:buChar char="◦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Retrieval</a:t>
            </a:r>
            <a:r>
              <a:t>: Convert user queries into vectors, match them against stored vectors, and retrieve the most relevant chunks.</a:t>
            </a:r>
          </a:p>
          <a:p>
            <a:pPr marL="914400" lvl="1" indent="-317500" defTabSz="457200">
              <a:lnSpc>
                <a:spcPct val="130000"/>
              </a:lnSpc>
              <a:buSzPct val="100000"/>
              <a:buFont typeface="Times Roman"/>
              <a:buChar char="◦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Generation</a:t>
            </a:r>
            <a:r>
              <a:t>: Use an LLM to combine the </a:t>
            </a:r>
            <a:r>
              <a:rPr sz="1900"/>
              <a:t>user </a:t>
            </a:r>
            <a:r>
              <a:t>query with retrieved data to generate a response.</a:t>
            </a:r>
          </a:p>
        </p:txBody>
      </p:sp>
      <p:sp>
        <p:nvSpPr>
          <p:cNvPr id="133" name="RAG Pipeline"/>
          <p:cNvSpPr txBox="1">
            <a:spLocks noGrp="1"/>
          </p:cNvSpPr>
          <p:nvPr>
            <p:ph type="title" idx="4294967295"/>
          </p:nvPr>
        </p:nvSpPr>
        <p:spPr>
          <a:xfrm>
            <a:off x="390056" y="-188937"/>
            <a:ext cx="10972801" cy="1417638"/>
          </a:xfrm>
          <a:prstGeom prst="rect">
            <a:avLst/>
          </a:prstGeom>
        </p:spPr>
        <p:txBody>
          <a:bodyPr/>
          <a:lstStyle/>
          <a:p>
            <a:r>
              <a:t>RAG Pipeline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Table 1"/>
          <p:cNvGraphicFramePr/>
          <p:nvPr>
            <p:extLst>
              <p:ext uri="{D42A27DB-BD31-4B8C-83A1-F6EECF244321}">
                <p14:modId xmlns:p14="http://schemas.microsoft.com/office/powerpoint/2010/main" val="1059859325"/>
              </p:ext>
            </p:extLst>
          </p:nvPr>
        </p:nvGraphicFramePr>
        <p:xfrm>
          <a:off x="1257299" y="1144558"/>
          <a:ext cx="9677400" cy="509524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Chunking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Embedding model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Vector DB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Retrieval Method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Reranking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Response LLM 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Sliding window chunking with window size=4, overlap=1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  <a:p>
                      <a:pPr algn="ctr">
                        <a:defRPr sz="1100"/>
                      </a:pPr>
                      <a:r>
                        <a:t>BAAI/bge-base-en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dirty="0"/>
                        <a:t>FAISS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Speak Pro"/>
                        </a:rPr>
                        <a:t>FAISS-based Nearest Neighbor (ANN=500) retrieval combined with Cosine Similarity</a:t>
                      </a:r>
                      <a:endParaRPr sz="11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Speak Pro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HugggingfaceH4/Zephyr-7b-beta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Sliding window chunking with window size=4, overlap=1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all-MiniLM-L6-v2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FAISS 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Speak Pro"/>
                        </a:rPr>
                        <a:t>FAISS-based Nearest Neighbor (ANN=1000) retrieval combined with Cosine Similarity</a:t>
                      </a:r>
                      <a:endParaRPr sz="11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Speak Pro"/>
                      </a:endParaRP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0" marR="0" marT="0" marB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meta-llama/Llama-3.1-8B-Instruct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Sliding window chunking with window size=4, overlap=1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all-MiniLM-L6-v2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FAISS 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Speak Pro"/>
                        </a:rPr>
                        <a:t>FAISS-based Nearest Neighbor (ANN=1000) retrieval combined with Cosine Similarity</a:t>
                      </a:r>
                      <a:endParaRPr sz="11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Speak Pro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dirty="0"/>
                        <a:t>MMR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HugggingfaceH4/Zephyr-7b-beta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 dirty="0"/>
                        <a:t>Sliding window chunking with window size=4, overlap=1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b="1" dirty="0"/>
                        <a:t>all-MiniLM-L6-v2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b="1" dirty="0"/>
                        <a:t>FAISS 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lang="en-US" sz="1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Speak Pro"/>
                        </a:rPr>
                        <a:t>FAISS-based Nearest Neighbor (ANN) retrieval combined with Cosine Similarity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 dirty="0"/>
                        <a:t>MMR</a:t>
                      </a:r>
                    </a:p>
                  </a:txBody>
                  <a:tcPr marL="0" marR="0" marT="0" marB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 dirty="0"/>
                        <a:t>meta-llama/Meta-Llama-3-70B-Instruct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Sliding window chunking with window size=4, overlap=1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all-MiniLM-L6-v2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MILVUS 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dirty="0"/>
                        <a:t>TF-IDF vectorizer + ANN(1000)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Cosine Similarity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dirty="0"/>
                        <a:t>HugggingfaceH4/Zephyr-7b-beta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6" name="Experimental Models"/>
          <p:cNvSpPr txBox="1">
            <a:spLocks noGrp="1"/>
          </p:cNvSpPr>
          <p:nvPr>
            <p:ph type="title" idx="4294967295"/>
          </p:nvPr>
        </p:nvSpPr>
        <p:spPr>
          <a:xfrm>
            <a:off x="442685" y="-434081"/>
            <a:ext cx="10972801" cy="1417639"/>
          </a:xfrm>
          <a:prstGeom prst="rect">
            <a:avLst/>
          </a:prstGeom>
        </p:spPr>
        <p:txBody>
          <a:bodyPr/>
          <a:lstStyle/>
          <a:p>
            <a:r>
              <a:t>Experimental Models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."/>
          <p:cNvSpPr txBox="1"/>
          <p:nvPr/>
        </p:nvSpPr>
        <p:spPr>
          <a:xfrm>
            <a:off x="1162326" y="2516653"/>
            <a:ext cx="16765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.</a:t>
            </a:r>
          </a:p>
        </p:txBody>
      </p:sp>
      <p:sp>
        <p:nvSpPr>
          <p:cNvPr id="139" name="Explainability Attributes for Generated Response"/>
          <p:cNvSpPr txBox="1">
            <a:spLocks noGrp="1"/>
          </p:cNvSpPr>
          <p:nvPr>
            <p:ph type="title" idx="4294967295"/>
          </p:nvPr>
        </p:nvSpPr>
        <p:spPr>
          <a:xfrm>
            <a:off x="456115" y="140137"/>
            <a:ext cx="10972801" cy="1417639"/>
          </a:xfrm>
          <a:prstGeom prst="rect">
            <a:avLst/>
          </a:prstGeom>
        </p:spPr>
        <p:txBody>
          <a:bodyPr/>
          <a:lstStyle/>
          <a:p>
            <a:r>
              <a:t>Explainability Attributes for Generated Response</a:t>
            </a:r>
          </a:p>
        </p:txBody>
      </p:sp>
      <p:sp>
        <p:nvSpPr>
          <p:cNvPr id="140" name="We assess alignment between retrieved documents, the query, and the generated response using Meta-Llama3-70b-8192 with RAGBench’s predefined prompt to extract the following attributes:…"/>
          <p:cNvSpPr txBox="1">
            <a:spLocks noGrp="1"/>
          </p:cNvSpPr>
          <p:nvPr>
            <p:ph type="body" idx="4294967295"/>
          </p:nvPr>
        </p:nvSpPr>
        <p:spPr>
          <a:xfrm>
            <a:off x="609600" y="1506774"/>
            <a:ext cx="10972801" cy="5257801"/>
          </a:xfrm>
          <a:prstGeom prst="rect">
            <a:avLst/>
          </a:prstGeom>
        </p:spPr>
        <p:txBody>
          <a:bodyPr/>
          <a:lstStyle/>
          <a:p>
            <a:pPr marL="82296" indent="-82296">
              <a:lnSpc>
                <a:spcPct val="100000"/>
              </a:lnSpc>
              <a:spcBef>
                <a:spcPts val="0"/>
              </a:spcBef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82296" indent="-82296">
              <a:lnSpc>
                <a:spcPct val="140000"/>
              </a:lnSpc>
              <a:spcBef>
                <a:spcPts val="0"/>
              </a:spcBef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 assess alignment between retrieved documents, the query, and the generated response using Meta-Llama3-70b-8192 with RAGBench’s predefined prompt to extract the following attributes:</a:t>
            </a:r>
          </a:p>
          <a:p>
            <a:pPr marL="82296" indent="-82296">
              <a:lnSpc>
                <a:spcPct val="100000"/>
              </a:lnSpc>
              <a:spcBef>
                <a:spcPts val="0"/>
              </a:spcBef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210552" indent="-210552">
              <a:lnSpc>
                <a:spcPct val="140000"/>
              </a:lnSpc>
              <a:spcBef>
                <a:spcPts val="0"/>
              </a:spcBef>
              <a:buClrTx/>
              <a:buFontTx/>
              <a:buChar char="•"/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Relevance Explanation – Justifies why retrieved documents match the query intent.</a:t>
            </a:r>
          </a:p>
          <a:p>
            <a:pPr marL="210552" indent="-210552">
              <a:lnSpc>
                <a:spcPct val="140000"/>
              </a:lnSpc>
              <a:spcBef>
                <a:spcPts val="0"/>
              </a:spcBef>
              <a:buClrTx/>
              <a:buFontTx/>
              <a:buChar char="•"/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All Relevant Sentence Keys – Identifies key sentences supporting the response.</a:t>
            </a:r>
          </a:p>
          <a:p>
            <a:pPr marL="210552" indent="-210552">
              <a:lnSpc>
                <a:spcPct val="140000"/>
              </a:lnSpc>
              <a:spcBef>
                <a:spcPts val="0"/>
              </a:spcBef>
              <a:buClrTx/>
              <a:buFontTx/>
              <a:buChar char="•"/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Overall Supported Explanation – Assesses factual grounding of the response.</a:t>
            </a:r>
          </a:p>
          <a:p>
            <a:pPr marL="210552" indent="-210552">
              <a:lnSpc>
                <a:spcPct val="140000"/>
              </a:lnSpc>
              <a:spcBef>
                <a:spcPts val="0"/>
              </a:spcBef>
              <a:buClrTx/>
              <a:buFontTx/>
              <a:buChar char="•"/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Overall Supported (Binary) – Yes/No indicator of factual support.</a:t>
            </a:r>
          </a:p>
          <a:p>
            <a:pPr marL="210552" indent="-210552">
              <a:lnSpc>
                <a:spcPct val="140000"/>
              </a:lnSpc>
              <a:spcBef>
                <a:spcPts val="0"/>
              </a:spcBef>
              <a:buClrTx/>
              <a:buFontTx/>
              <a:buChar char="•"/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Sentence Support Information – Maps response segments to supporting retrieved sentences.</a:t>
            </a:r>
          </a:p>
          <a:p>
            <a:pPr marL="210552" indent="-210552">
              <a:lnSpc>
                <a:spcPct val="140000"/>
              </a:lnSpc>
              <a:spcBef>
                <a:spcPts val="0"/>
              </a:spcBef>
              <a:buClrTx/>
              <a:buFontTx/>
              <a:buChar char="•"/>
              <a:defRPr sz="21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All Utilized Sentence Keys – Identifies retrieved content used in response generation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 Gallery" descr="Image Gallery"/>
          <p:cNvPicPr>
            <a:picLocks noChangeAspect="1"/>
          </p:cNvPicPr>
          <p:nvPr/>
        </p:nvPicPr>
        <p:blipFill>
          <a:blip r:embed="rId2"/>
          <a:srcRect t="595" b="595"/>
          <a:stretch>
            <a:fillRect/>
          </a:stretch>
        </p:blipFill>
        <p:spPr>
          <a:xfrm>
            <a:off x="1769142" y="1233168"/>
            <a:ext cx="8653716" cy="4890966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RACE Metrics"/>
          <p:cNvSpPr txBox="1">
            <a:spLocks noGrp="1"/>
          </p:cNvSpPr>
          <p:nvPr>
            <p:ph type="title" idx="4294967295"/>
          </p:nvPr>
        </p:nvSpPr>
        <p:spPr>
          <a:xfrm>
            <a:off x="382710" y="-373702"/>
            <a:ext cx="10972801" cy="1417639"/>
          </a:xfrm>
          <a:prstGeom prst="rect">
            <a:avLst/>
          </a:prstGeom>
        </p:spPr>
        <p:txBody>
          <a:bodyPr/>
          <a:lstStyle>
            <a:lvl1pPr>
              <a:defRPr sz="3000" spc="-65"/>
            </a:lvl1pPr>
          </a:lstStyle>
          <a:p>
            <a:r>
              <a:t>TRACE Metrics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Image Gallery" descr="Image Gallery"/>
          <p:cNvPicPr>
            <a:picLocks noChangeAspect="1"/>
          </p:cNvPicPr>
          <p:nvPr/>
        </p:nvPicPr>
        <p:blipFill>
          <a:blip r:embed="rId2"/>
          <a:srcRect l="1246" r="1246"/>
          <a:stretch>
            <a:fillRect/>
          </a:stretch>
        </p:blipFill>
        <p:spPr>
          <a:xfrm>
            <a:off x="2334791" y="859209"/>
            <a:ext cx="6975213" cy="4809382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Evaluation Metrics (Llama3-70b-8192 Evaluation Model)"/>
          <p:cNvSpPr txBox="1">
            <a:spLocks noGrp="1"/>
          </p:cNvSpPr>
          <p:nvPr>
            <p:ph type="title" idx="4294967295"/>
          </p:nvPr>
        </p:nvSpPr>
        <p:spPr>
          <a:xfrm>
            <a:off x="449442" y="-714037"/>
            <a:ext cx="10972801" cy="1417639"/>
          </a:xfrm>
          <a:prstGeom prst="rect">
            <a:avLst/>
          </a:prstGeom>
        </p:spPr>
        <p:txBody>
          <a:bodyPr/>
          <a:lstStyle>
            <a:lvl1pPr>
              <a:defRPr sz="3000" spc="-65"/>
            </a:lvl1pPr>
          </a:lstStyle>
          <a:p>
            <a:r>
              <a:t>Evaluation Metrics (Llama3-70b-8192 Evaluation Model)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AD_4nXdCZuiSSSIMh7SZ0nICOopw6y0Bd4GgaXn6litE3qUZQ3Wbr-NI8Uwpa4kBCVaFXOrVdcvTuQ_63COK04nLvb2sEC7p2i0hJYzZ8OZYxGutnLF3dhxiRcbrfo7RNSWbkF2SEX8hjdPkhl6jM529vT4.png" descr="AD_4nXdCZuiSSSIMh7SZ0nICOopw6y0Bd4GgaXn6litE3qUZQ3Wbr-NI8Uwpa4kBCVaFXOrVdcvTuQ_63COK04nLvb2sEC7p2i0hJYzZ8OZYxGutnLF3dhxiRcbrfo7RNSWbkF2SEX8hjdPkhl6jM529v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407" y="1071491"/>
            <a:ext cx="8933186" cy="5151509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Experiment Results"/>
          <p:cNvSpPr txBox="1">
            <a:spLocks noGrp="1"/>
          </p:cNvSpPr>
          <p:nvPr>
            <p:ph type="title" idx="4294967295"/>
          </p:nvPr>
        </p:nvSpPr>
        <p:spPr>
          <a:xfrm>
            <a:off x="373742" y="-523946"/>
            <a:ext cx="10972801" cy="1417638"/>
          </a:xfrm>
          <a:prstGeom prst="rect">
            <a:avLst/>
          </a:prstGeom>
        </p:spPr>
        <p:txBody>
          <a:bodyPr/>
          <a:lstStyle/>
          <a:p>
            <a:r>
              <a:t>Experiment Results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AD_4nXcUmL6Lbwjh1SHsGkxoVeYm5SN3nljtu1ILg9iMQeTKh1l0B_2SHebBgAJ7la-W32V9-n1dwOGcr7aTg4ib7ta31uiUev5h0xG7ZZ-FE-kG2wzK9m8Eh296BTIlmviLXm8ZH915E4mU2RB_GkLqRA.png" descr="AD_4nXcUmL6Lbwjh1SHsGkxoVeYm5SN3nljtu1ILg9iMQeTKh1l0B_2SHebBgAJ7la-W32V9-n1dwOGcr7aTg4ib7ta31uiUev5h0xG7ZZ-FE-kG2wzK9m8Eh296BTIlmviLXm8ZH915E4mU2RB_GkLq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911" y="1390820"/>
            <a:ext cx="6397892" cy="4798420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Experiment Results"/>
          <p:cNvSpPr txBox="1">
            <a:spLocks noGrp="1"/>
          </p:cNvSpPr>
          <p:nvPr>
            <p:ph type="title" idx="4294967295"/>
          </p:nvPr>
        </p:nvSpPr>
        <p:spPr>
          <a:xfrm>
            <a:off x="464457" y="-238379"/>
            <a:ext cx="10972801" cy="1417639"/>
          </a:xfrm>
          <a:prstGeom prst="rect">
            <a:avLst/>
          </a:prstGeom>
        </p:spPr>
        <p:txBody>
          <a:bodyPr/>
          <a:lstStyle/>
          <a:p>
            <a:r>
              <a:t>Experiment Results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age Gallery" descr="Image Gallery"/>
          <p:cNvPicPr>
            <a:picLocks noChangeAspect="1"/>
          </p:cNvPicPr>
          <p:nvPr/>
        </p:nvPicPr>
        <p:blipFill>
          <a:blip r:embed="rId2"/>
          <a:srcRect t="6681" b="6681"/>
          <a:stretch>
            <a:fillRect/>
          </a:stretch>
        </p:blipFill>
        <p:spPr>
          <a:xfrm>
            <a:off x="1171506" y="1992715"/>
            <a:ext cx="9848988" cy="287257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Proposed RAG Result"/>
          <p:cNvSpPr txBox="1">
            <a:spLocks noGrp="1"/>
          </p:cNvSpPr>
          <p:nvPr>
            <p:ph type="title" idx="4294967295"/>
          </p:nvPr>
        </p:nvSpPr>
        <p:spPr>
          <a:xfrm>
            <a:off x="609600" y="0"/>
            <a:ext cx="10972800" cy="1417638"/>
          </a:xfrm>
          <a:prstGeom prst="rect">
            <a:avLst/>
          </a:prstGeom>
        </p:spPr>
        <p:txBody>
          <a:bodyPr/>
          <a:lstStyle/>
          <a:p>
            <a:r>
              <a:t>Proposed RAG Result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Image Gallery"/>
          <p:cNvGrpSpPr/>
          <p:nvPr/>
        </p:nvGrpSpPr>
        <p:grpSpPr>
          <a:xfrm>
            <a:off x="359785" y="577610"/>
            <a:ext cx="11472430" cy="4470880"/>
            <a:chOff x="0" y="-901699"/>
            <a:chExt cx="11472428" cy="4470879"/>
          </a:xfrm>
        </p:grpSpPr>
        <p:pic>
          <p:nvPicPr>
            <p:cNvPr id="157" name="Screenshot 2025-02-22 at 2.51.25 AM.png" descr="Screenshot 2025-02-22 at 2.51.25 AM.png"/>
            <p:cNvPicPr>
              <a:picLocks noChangeAspect="1"/>
            </p:cNvPicPr>
            <p:nvPr/>
          </p:nvPicPr>
          <p:blipFill>
            <a:blip r:embed="rId2"/>
            <a:srcRect t="5545" b="5545"/>
            <a:stretch>
              <a:fillRect/>
            </a:stretch>
          </p:blipFill>
          <p:spPr>
            <a:xfrm>
              <a:off x="0" y="0"/>
              <a:ext cx="11472429" cy="35691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8" name="Proposed RAG Result"/>
            <p:cNvSpPr/>
            <p:nvPr/>
          </p:nvSpPr>
          <p:spPr>
            <a:xfrm>
              <a:off x="0" y="-901700"/>
              <a:ext cx="11472429" cy="800100"/>
            </a:xfrm>
            <a:prstGeom prst="roundRect">
              <a:avLst>
                <a:gd name="adj" fmla="val 0"/>
              </a:avLst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lnSpc>
                  <a:spcPct val="90000"/>
                </a:lnSpc>
                <a:defRPr sz="4600" spc="-100">
                  <a:solidFill>
                    <a:srgbClr val="404040"/>
                  </a:solidFill>
                  <a:latin typeface="Georgia Pro Cond Light"/>
                  <a:ea typeface="Georgia Pro Cond Light"/>
                  <a:cs typeface="Georgia Pro Cond Light"/>
                  <a:sym typeface="Georgia Pro Cond Light"/>
                </a:defRPr>
              </a:lvl1pPr>
            </a:lstStyle>
            <a:p>
              <a:r>
                <a:t>Proposed RAG Result</a:t>
              </a:r>
            </a:p>
          </p:txBody>
        </p: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Image Gallery"/>
          <p:cNvGrpSpPr/>
          <p:nvPr/>
        </p:nvGrpSpPr>
        <p:grpSpPr>
          <a:xfrm>
            <a:off x="1185333" y="442896"/>
            <a:ext cx="9821334" cy="3953289"/>
            <a:chOff x="0" y="-901699"/>
            <a:chExt cx="9821333" cy="3953288"/>
          </a:xfrm>
        </p:grpSpPr>
        <p:pic>
          <p:nvPicPr>
            <p:cNvPr id="161" name="Screenshot 2025-02-22 at 2.56.38 AM.png" descr="Screenshot 2025-02-22 at 2.56.38 AM.png"/>
            <p:cNvPicPr>
              <a:picLocks noChangeAspect="1"/>
            </p:cNvPicPr>
            <p:nvPr/>
          </p:nvPicPr>
          <p:blipFill>
            <a:blip r:embed="rId2"/>
            <a:srcRect t="5909" b="5909"/>
            <a:stretch>
              <a:fillRect/>
            </a:stretch>
          </p:blipFill>
          <p:spPr>
            <a:xfrm>
              <a:off x="0" y="0"/>
              <a:ext cx="9821334" cy="30515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2" name="Proposed RAG Result"/>
            <p:cNvSpPr/>
            <p:nvPr/>
          </p:nvSpPr>
          <p:spPr>
            <a:xfrm>
              <a:off x="0" y="-901700"/>
              <a:ext cx="9821334" cy="800100"/>
            </a:xfrm>
            <a:prstGeom prst="roundRect">
              <a:avLst>
                <a:gd name="adj" fmla="val 0"/>
              </a:avLst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lnSpc>
                  <a:spcPct val="90000"/>
                </a:lnSpc>
                <a:defRPr sz="4600" spc="-100">
                  <a:solidFill>
                    <a:srgbClr val="404040"/>
                  </a:solidFill>
                  <a:latin typeface="Georgia Pro Cond Light"/>
                  <a:ea typeface="Georgia Pro Cond Light"/>
                  <a:cs typeface="Georgia Pro Cond Light"/>
                  <a:sym typeface="Georgia Pro Cond Light"/>
                </a:defRPr>
              </a:lvl1pPr>
            </a:lstStyle>
            <a:p>
              <a:r>
                <a:t>Proposed RAG Result</a:t>
              </a:r>
            </a:p>
          </p:txBody>
        </p:sp>
      </p:grp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 Gallery" descr="Image Gallery"/>
          <p:cNvPicPr>
            <a:picLocks noChangeAspect="1"/>
          </p:cNvPicPr>
          <p:nvPr/>
        </p:nvPicPr>
        <p:blipFill>
          <a:blip r:embed="rId2"/>
          <a:srcRect t="6315" b="6315"/>
          <a:stretch>
            <a:fillRect/>
          </a:stretch>
        </p:blipFill>
        <p:spPr>
          <a:xfrm>
            <a:off x="933077" y="1494155"/>
            <a:ext cx="9821335" cy="3026697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Proposed RAG Result"/>
          <p:cNvSpPr txBox="1">
            <a:spLocks noGrp="1"/>
          </p:cNvSpPr>
          <p:nvPr>
            <p:ph type="title" idx="4294967295"/>
          </p:nvPr>
        </p:nvSpPr>
        <p:spPr>
          <a:xfrm>
            <a:off x="609600" y="-9072"/>
            <a:ext cx="10972800" cy="1417639"/>
          </a:xfrm>
          <a:prstGeom prst="rect">
            <a:avLst/>
          </a:prstGeom>
        </p:spPr>
        <p:txBody>
          <a:bodyPr/>
          <a:lstStyle/>
          <a:p>
            <a:r>
              <a:t>Proposed RAG Result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Table 6"/>
          <p:cNvGraphicFramePr/>
          <p:nvPr/>
        </p:nvGraphicFramePr>
        <p:xfrm>
          <a:off x="2243001" y="2659682"/>
          <a:ext cx="6946439" cy="1424006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7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086">
                <a:tc>
                  <a:txBody>
                    <a:bodyPr/>
                    <a:lstStyle/>
                    <a:p>
                      <a:pPr indent="306070" defTabSz="457200">
                        <a:defRPr sz="1200" b="1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Noise Robustness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34">
                <a:tc>
                  <a:txBody>
                    <a:bodyPr/>
                    <a:lstStyle/>
                    <a:p>
                      <a:pPr defTabSz="457200">
                        <a:defRPr sz="120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Noise Ratio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0.2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0.4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0.6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0.8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34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Mistral-7B-Instruct-v0.3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99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98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97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96.77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90.667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34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Qwen2.5-72B-Instruct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97.5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87.8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95.5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94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88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34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DeepSeek-R1-Distill-Qwen-32B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99.7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99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98.3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93.67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93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9" name="Benchmarking LLM in RAG: Noise Robustness"/>
          <p:cNvSpPr txBox="1">
            <a:spLocks noGrp="1"/>
          </p:cNvSpPr>
          <p:nvPr>
            <p:ph type="title" idx="4294967295"/>
          </p:nvPr>
        </p:nvSpPr>
        <p:spPr>
          <a:xfrm>
            <a:off x="609600" y="0"/>
            <a:ext cx="10972800" cy="1152476"/>
          </a:xfrm>
          <a:prstGeom prst="rect">
            <a:avLst/>
          </a:prstGeom>
        </p:spPr>
        <p:txBody>
          <a:bodyPr/>
          <a:lstStyle>
            <a:lvl1pPr defTabSz="850391">
              <a:defRPr sz="4278" spc="-93"/>
            </a:lvl1pPr>
          </a:lstStyle>
          <a:p>
            <a:r>
              <a:t>Benchmarking LLM in RAG: Noise Robustness</a:t>
            </a:r>
          </a:p>
        </p:txBody>
      </p:sp>
      <p:sp>
        <p:nvSpPr>
          <p:cNvPr id="170" name="Noise robustness measures how well an LLM can extract useful information from noisy documents…"/>
          <p:cNvSpPr txBox="1">
            <a:spLocks noGrp="1"/>
          </p:cNvSpPr>
          <p:nvPr>
            <p:ph type="body" idx="4294967295"/>
          </p:nvPr>
        </p:nvSpPr>
        <p:spPr>
          <a:xfrm>
            <a:off x="609600" y="1763485"/>
            <a:ext cx="10972801" cy="5257801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7916"/>
              </a:lnSpc>
              <a:spcBef>
                <a:spcPts val="8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Noise robustness measures how well an LLM can extract useful information from noisy documents </a:t>
            </a:r>
          </a:p>
          <a:p>
            <a:pPr marL="0" indent="0" defTabSz="457200">
              <a:lnSpc>
                <a:spcPct val="107916"/>
              </a:lnSpc>
              <a:spcBef>
                <a:spcPts val="8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0" indent="0" defTabSz="457200">
              <a:lnSpc>
                <a:spcPct val="107916"/>
              </a:lnSpc>
              <a:spcBef>
                <a:spcPts val="8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0" indent="0" defTabSz="457200">
              <a:lnSpc>
                <a:spcPct val="107916"/>
              </a:lnSpc>
              <a:spcBef>
                <a:spcPts val="8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0" indent="0" defTabSz="457200">
              <a:lnSpc>
                <a:spcPct val="107916"/>
              </a:lnSpc>
              <a:spcBef>
                <a:spcPts val="8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0" indent="0" defTabSz="457200">
              <a:lnSpc>
                <a:spcPct val="107916"/>
              </a:lnSpc>
              <a:spcBef>
                <a:spcPts val="8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Summary: </a:t>
            </a:r>
          </a:p>
          <a:p>
            <a:pPr marL="0" indent="0" defTabSz="457200">
              <a:lnSpc>
                <a:spcPct val="107916"/>
              </a:lnSpc>
              <a:spcBef>
                <a:spcPts val="8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shows LLMs struggle with noise</a:t>
            </a:r>
            <a:r>
              <a:rPr b="1"/>
              <a:t> </a:t>
            </a:r>
            <a:r>
              <a:t>Higher noise levels significantly impact all models.</a:t>
            </a:r>
            <a:endParaRPr b="1"/>
          </a:p>
          <a:p>
            <a:pPr marL="0" indent="0" defTabSz="457200">
              <a:lnSpc>
                <a:spcPct val="107916"/>
              </a:lnSpc>
              <a:spcBef>
                <a:spcPts val="8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DeepSeek-R1-Distill-Qwen-32B is the most robust model</a:t>
            </a:r>
            <a:r>
              <a:rPr b="1"/>
              <a:t>.</a:t>
            </a:r>
            <a:r>
              <a:t> This suggests it is better at handling noisy documents.</a:t>
            </a: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Noise significantly impacts LLM accuracy, highlighting the need for improved retrieval and reasoning mechanisms.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7"/>
          <p:cNvGraphicFramePr/>
          <p:nvPr/>
        </p:nvGraphicFramePr>
        <p:xfrm>
          <a:off x="2722335" y="2646313"/>
          <a:ext cx="5676900" cy="1982470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990">
                <a:tc>
                  <a:txBody>
                    <a:bodyPr/>
                    <a:lstStyle/>
                    <a:p>
                      <a:pPr indent="306070" defTabSz="457200">
                        <a:defRPr sz="1200" b="1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Negative Rejection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Model Name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 Accuracy when Noise Ratios =1 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Rejection Rate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mistralai/Mistral-7B-Instruct-v0.3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41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4.5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Qwen/Qwen2.5-72B-Instruct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58.2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18.2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deepseek-ai/DeepSeek-R1-Distill-Qwen-32B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37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10.3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3" name="Benchmarking LLM in RAG: Negative Rejection"/>
          <p:cNvSpPr txBox="1">
            <a:spLocks noGrp="1"/>
          </p:cNvSpPr>
          <p:nvPr>
            <p:ph type="title" idx="4294967295"/>
          </p:nvPr>
        </p:nvSpPr>
        <p:spPr>
          <a:xfrm>
            <a:off x="609600" y="-117929"/>
            <a:ext cx="10972801" cy="1238797"/>
          </a:xfrm>
          <a:prstGeom prst="rect">
            <a:avLst/>
          </a:prstGeom>
        </p:spPr>
        <p:txBody>
          <a:bodyPr/>
          <a:lstStyle/>
          <a:p>
            <a:pPr defTabSz="841247">
              <a:defRPr sz="4232" spc="-92"/>
            </a:pPr>
            <a:r>
              <a:t>Benchmarking LLM in RAG: </a:t>
            </a:r>
            <a:r>
              <a:rPr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Negative Rejection</a:t>
            </a:r>
          </a:p>
        </p:txBody>
      </p:sp>
      <p:sp>
        <p:nvSpPr>
          <p:cNvPr id="174" name="Measures how well an LLM rejects answering when provided only with irrelevant (noisy) documents.…"/>
          <p:cNvSpPr txBox="1">
            <a:spLocks noGrp="1"/>
          </p:cNvSpPr>
          <p:nvPr>
            <p:ph type="body" idx="4294967295"/>
          </p:nvPr>
        </p:nvSpPr>
        <p:spPr>
          <a:xfrm>
            <a:off x="642802" y="1342018"/>
            <a:ext cx="11356884" cy="5529483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Measures how well an LLM rejects answering when provided only with irrelevant (noisy) documents.</a:t>
            </a:r>
          </a:p>
          <a:p>
            <a:pPr marL="210552" indent="-210552" defTabSz="457200">
              <a:lnSpc>
                <a:spcPct val="100000"/>
              </a:lnSpc>
              <a:spcBef>
                <a:spcPts val="500"/>
              </a:spcBef>
              <a:buClrTx/>
              <a:buFontTx/>
              <a:buChar char="•"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low rejection rate suggests the model hallucinates answers instead of rejecting them.</a:t>
            </a:r>
          </a:p>
          <a:p>
            <a:pPr marL="210552" indent="-210552" defTabSz="457200">
              <a:lnSpc>
                <a:spcPct val="100000"/>
              </a:lnSpc>
              <a:spcBef>
                <a:spcPts val="500"/>
              </a:spcBef>
              <a:buClrTx/>
              <a:buFontTx/>
              <a:buChar char="•"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higher rejection rate means the model is better at recognizing when it lacks sufficient information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>
                <a:latin typeface="Calibri"/>
                <a:ea typeface="Calibri"/>
                <a:cs typeface="Calibri"/>
                <a:sym typeface="Calibri"/>
              </a:rPr>
              <a:t>Summary:</a:t>
            </a: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Qwen2.5-72B-Instruct has the highest rejection rate (18.2%)</a:t>
            </a: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LLMs struggle to strictly follow instructions &amp; Models can be misled by noisy information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Benchmarking LLM in RAG: Information Integration"/>
          <p:cNvSpPr txBox="1">
            <a:spLocks noGrp="1"/>
          </p:cNvSpPr>
          <p:nvPr>
            <p:ph type="title" idx="4294967295"/>
          </p:nvPr>
        </p:nvSpPr>
        <p:spPr>
          <a:xfrm>
            <a:off x="609599" y="-371929"/>
            <a:ext cx="10972801" cy="1417638"/>
          </a:xfrm>
          <a:prstGeom prst="rect">
            <a:avLst/>
          </a:prstGeom>
        </p:spPr>
        <p:txBody>
          <a:bodyPr/>
          <a:lstStyle/>
          <a:p>
            <a:pPr algn="l" defTabSz="374904">
              <a:lnSpc>
                <a:spcPct val="107916"/>
              </a:lnSpc>
              <a:spcBef>
                <a:spcPts val="600"/>
              </a:spcBef>
              <a:defRPr sz="3772" spc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Benchmarking LLM in RAG: </a:t>
            </a:r>
            <a:r>
              <a:rPr i="1"/>
              <a:t>Information Integration</a:t>
            </a:r>
            <a:endParaRPr sz="984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Table 8"/>
          <p:cNvGraphicFramePr/>
          <p:nvPr/>
        </p:nvGraphicFramePr>
        <p:xfrm>
          <a:off x="1042676" y="1044814"/>
          <a:ext cx="6521843" cy="1424135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05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6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6215">
                <a:tc>
                  <a:txBody>
                    <a:bodyPr/>
                    <a:lstStyle/>
                    <a:p>
                      <a:pPr indent="306070" defTabSz="457200">
                        <a:defRPr sz="1200" b="1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Information Integration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6">
                <a:tc>
                  <a:txBody>
                    <a:bodyPr/>
                    <a:lstStyle/>
                    <a:p>
                      <a:pPr defTabSz="457200">
                        <a:defRPr sz="120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Noise Ratio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0.2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0.4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6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mistralai/Mistral-7B-Instruct-v0.3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73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65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57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6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Qwen/Qwen2.5-72B-Instruct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92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87.8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85.6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6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deepseek-ai/DeepSeek-R1-Distill-Qwen-32B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81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80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78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8" name="Summary:…"/>
          <p:cNvSpPr txBox="1"/>
          <p:nvPr/>
        </p:nvSpPr>
        <p:spPr>
          <a:xfrm>
            <a:off x="184519" y="2356729"/>
            <a:ext cx="11969534" cy="409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500"/>
              </a:spcBef>
              <a:defRPr sz="2100" b="1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Summary:</a:t>
            </a:r>
          </a:p>
          <a:p>
            <a:pPr defTabSz="457200">
              <a:spcBef>
                <a:spcPts val="500"/>
              </a:spcBef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Qwen2.5-72B-Instruct performs best (92% accuracy)</a:t>
            </a:r>
          </a:p>
          <a:p>
            <a:pPr marL="591552" lvl="1" indent="-210552" defTabSz="457200">
              <a:spcBef>
                <a:spcPts val="500"/>
              </a:spcBef>
              <a:buSzPct val="100000"/>
              <a:buChar char="•"/>
              <a:tabLst>
                <a:tab pos="9144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model has the strongest ability to extract and integrate relevant information when no noise is present.</a:t>
            </a:r>
          </a:p>
          <a:p>
            <a:pPr marL="591552" lvl="1" indent="-210552" defTabSz="457200">
              <a:spcBef>
                <a:spcPts val="500"/>
              </a:spcBef>
              <a:buSzPct val="100000"/>
              <a:buChar char="•"/>
              <a:tabLst>
                <a:tab pos="9144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Suggests better comprehension and retrieval processing compared to the other models.</a:t>
            </a:r>
          </a:p>
          <a:p>
            <a:pPr defTabSz="457200">
              <a:spcBef>
                <a:spcPts val="500"/>
              </a:spcBef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LLMs struggle to fully utilize information, even in clean data settings.</a:t>
            </a:r>
          </a:p>
          <a:p>
            <a:pPr defTabSz="457200">
              <a:spcBef>
                <a:spcPts val="500"/>
              </a:spcBef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Adding noise significantly reduces performance.</a:t>
            </a:r>
          </a:p>
          <a:p>
            <a:pPr marL="591552" lvl="1" indent="-210552" defTabSz="457200">
              <a:spcBef>
                <a:spcPts val="500"/>
              </a:spcBef>
              <a:buSzPct val="100000"/>
              <a:buChar char="•"/>
              <a:tabLst>
                <a:tab pos="9144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Suggests that models have difficulty distinguishing relevant from irrelevant information.</a:t>
            </a:r>
          </a:p>
          <a:p>
            <a:pPr marL="591552" lvl="1" indent="-210552" defTabSz="457200">
              <a:spcBef>
                <a:spcPts val="500"/>
              </a:spcBef>
              <a:buSzPct val="100000"/>
              <a:buChar char="•"/>
              <a:tabLst>
                <a:tab pos="9144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Information from multiple documents can act as “noise” to each other.</a:t>
            </a:r>
          </a:p>
          <a:p>
            <a:pPr marL="591552" lvl="1" indent="-210552" defTabSz="457200">
              <a:spcBef>
                <a:spcPts val="500"/>
              </a:spcBef>
              <a:buSzPct val="100000"/>
              <a:buChar char="•"/>
              <a:tabLst>
                <a:tab pos="9144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makes it difficult for the model to extract only the correct data points and integrate them into a meaningful answer.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Benchmarking LLM in RAG: Counterfactual Robustness"/>
          <p:cNvSpPr txBox="1">
            <a:spLocks noGrp="1"/>
          </p:cNvSpPr>
          <p:nvPr>
            <p:ph type="title" idx="4294967295"/>
          </p:nvPr>
        </p:nvSpPr>
        <p:spPr>
          <a:xfrm>
            <a:off x="609599" y="-36286"/>
            <a:ext cx="10972801" cy="1113568"/>
          </a:xfrm>
          <a:prstGeom prst="rect">
            <a:avLst/>
          </a:prstGeom>
        </p:spPr>
        <p:txBody>
          <a:bodyPr/>
          <a:lstStyle/>
          <a:p>
            <a:pPr defTabSz="713231">
              <a:defRPr sz="3587" spc="-78"/>
            </a:pPr>
            <a:r>
              <a:t>Benchmarking LLM in RAG: </a:t>
            </a:r>
            <a:r>
              <a:rPr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Counterfactual Robustness</a:t>
            </a:r>
          </a:p>
        </p:txBody>
      </p:sp>
      <p:sp>
        <p:nvSpPr>
          <p:cNvPr id="181" name="Double-click to edit"/>
          <p:cNvSpPr txBox="1">
            <a:spLocks noGrp="1"/>
          </p:cNvSpPr>
          <p:nvPr>
            <p:ph type="body" idx="4294967295"/>
          </p:nvPr>
        </p:nvSpPr>
        <p:spPr>
          <a:xfrm>
            <a:off x="3449254" y="1950465"/>
            <a:ext cx="196771" cy="31351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.</a:t>
            </a:r>
            <a:endParaRPr dirty="0"/>
          </a:p>
        </p:txBody>
      </p:sp>
      <p:graphicFrame>
        <p:nvGraphicFramePr>
          <p:cNvPr id="182" name="Table 9"/>
          <p:cNvGraphicFramePr/>
          <p:nvPr/>
        </p:nvGraphicFramePr>
        <p:xfrm>
          <a:off x="972934" y="1816226"/>
          <a:ext cx="8589887" cy="1823720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477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3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4470">
                <a:tc>
                  <a:txBody>
                    <a:bodyPr/>
                    <a:lstStyle/>
                    <a:p>
                      <a:pPr indent="306070" defTabSz="457200">
                        <a:defRPr sz="1200" b="1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Counterfactual Robustness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 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dirty="0"/>
                        <a:t>Model Name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Without Doc </a:t>
                      </a:r>
                      <a:br/>
                      <a:r>
                        <a:t>(Accuracy )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With Positive Doc (Accuracy )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dirty="0"/>
                        <a:t>Error Detection Rate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 i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dirty="0"/>
                        <a:t>Error Correction Rate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Qwen2.5-72B-Instruct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75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13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2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33.66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dirty="0"/>
                        <a:t>DeepSeek-R1-Distill-Qwen-32B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96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84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25.66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defTabSz="457200">
                        <a:defRPr sz="12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Mistral-Nemo-Instruct-2407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72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7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0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10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marL="50800" marR="50800" marT="50800" marB="5080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" name="All models suffered drastic performance drops when presented with incorrect documents.…"/>
          <p:cNvSpPr txBox="1"/>
          <p:nvPr/>
        </p:nvSpPr>
        <p:spPr>
          <a:xfrm>
            <a:off x="809648" y="3719897"/>
            <a:ext cx="10371352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110289" indent="-110289" defTabSz="457200">
              <a:spcBef>
                <a:spcPts val="500"/>
              </a:spcBef>
              <a:buSzPct val="100000"/>
              <a:buChar char="•"/>
              <a:tabLst>
                <a:tab pos="4572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All models suffered drastic performance drops when presented with incorrect documents.</a:t>
            </a:r>
          </a:p>
          <a:p>
            <a:pPr marL="120315" indent="-120315" defTabSz="457200">
              <a:buSzPct val="100000"/>
              <a:buChar char="•"/>
              <a:tabLst>
                <a:tab pos="4572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Error Detection is generally poor (ED is below 10% for all models).</a:t>
            </a:r>
          </a:p>
          <a:p>
            <a:pPr marL="120315" indent="-120315" defTabSz="457200">
              <a:buSzPct val="100000"/>
              <a:buChar char="•"/>
              <a:tabLst>
                <a:tab pos="4572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Even when errors are detected, correction is inconsistent.</a:t>
            </a:r>
          </a:p>
          <a:p>
            <a:pPr marL="110289" indent="-110289" defTabSz="457200">
              <a:spcBef>
                <a:spcPts val="500"/>
              </a:spcBef>
              <a:buSzPct val="100000"/>
              <a:buChar char="•"/>
              <a:tabLst>
                <a:tab pos="457200" algn="l"/>
              </a:tabLst>
              <a:defRPr sz="2100"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LLMs are easily misled by false information in retrieval-augmented setups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RetrospectVTI">
  <a:themeElements>
    <a:clrScheme name="Retrospect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0000FF"/>
      </a:hlink>
      <a:folHlink>
        <a:srgbClr val="FF00FF"/>
      </a:folHlink>
    </a:clrScheme>
    <a:fontScheme name="RetrospectVTI">
      <a:majorFont>
        <a:latin typeface="Helvetica"/>
        <a:ea typeface="Helvetica"/>
        <a:cs typeface="Helvetica"/>
      </a:majorFont>
      <a:minorFont>
        <a:latin typeface="Speak Pro"/>
        <a:ea typeface="Speak Pro"/>
        <a:cs typeface="Speak Pro"/>
      </a:minorFont>
    </a:fontScheme>
    <a:fmtScheme name="Retrospect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flat">
          <a:solidFill>
            <a:schemeClr val="accent1"/>
          </a:solidFill>
          <a:prstDash val="solid"/>
          <a:round/>
        </a:ln>
        <a:effectLst>
          <a:outerShdw blurRad="38100" dist="25400" dir="2700000" rotWithShape="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peak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peak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RetrospectVTI">
  <a:themeElements>
    <a:clrScheme name="Retrospect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0000FF"/>
      </a:hlink>
      <a:folHlink>
        <a:srgbClr val="FF00FF"/>
      </a:folHlink>
    </a:clrScheme>
    <a:fontScheme name="RetrospectVTI">
      <a:majorFont>
        <a:latin typeface="Helvetica"/>
        <a:ea typeface="Helvetica"/>
        <a:cs typeface="Helvetica"/>
      </a:majorFont>
      <a:minorFont>
        <a:latin typeface="Speak Pro"/>
        <a:ea typeface="Speak Pro"/>
        <a:cs typeface="Speak Pro"/>
      </a:minorFont>
    </a:fontScheme>
    <a:fmtScheme name="Retrospect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flat">
          <a:solidFill>
            <a:schemeClr val="accent1"/>
          </a:solidFill>
          <a:prstDash val="solid"/>
          <a:round/>
        </a:ln>
        <a:effectLst>
          <a:outerShdw blurRad="38100" dist="25400" dir="2700000" rotWithShape="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peak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peak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863</Words>
  <Application>Microsoft Macintosh PowerPoint</Application>
  <PresentationFormat>Widescreen</PresentationFormat>
  <Paragraphs>200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Georgia Pro Cond Light</vt:lpstr>
      <vt:lpstr>Speak Pro</vt:lpstr>
      <vt:lpstr>Times Roman</vt:lpstr>
      <vt:lpstr>RetrospectVTI</vt:lpstr>
      <vt:lpstr>PowerPoint Presentation</vt:lpstr>
      <vt:lpstr>RAG Workflow</vt:lpstr>
      <vt:lpstr>RAG Pipeline</vt:lpstr>
      <vt:lpstr>Experimental Models</vt:lpstr>
      <vt:lpstr>Explainability Attributes for Generated Response</vt:lpstr>
      <vt:lpstr>TRACE Metrics</vt:lpstr>
      <vt:lpstr>Evaluation Metrics (Llama3-70b-8192 Evaluation Model)</vt:lpstr>
      <vt:lpstr>Experiment Results</vt:lpstr>
      <vt:lpstr>Experiment Results</vt:lpstr>
      <vt:lpstr>Proposed RAG Result</vt:lpstr>
      <vt:lpstr>PowerPoint Presentation</vt:lpstr>
      <vt:lpstr>PowerPoint Presentation</vt:lpstr>
      <vt:lpstr>Proposed RAG Result</vt:lpstr>
      <vt:lpstr>Benchmarking LLM in RAG: Noise Robustness</vt:lpstr>
      <vt:lpstr>Benchmarking LLM in RAG: Negative Rejection</vt:lpstr>
      <vt:lpstr>Benchmarking LLM in RAG: Information Integration</vt:lpstr>
      <vt:lpstr>Benchmarking LLM in RAG: Counterfactual Robustness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bhagya lakshmi</cp:lastModifiedBy>
  <cp:revision>5</cp:revision>
  <dcterms:modified xsi:type="dcterms:W3CDTF">2025-02-23T03:09:48Z</dcterms:modified>
</cp:coreProperties>
</file>